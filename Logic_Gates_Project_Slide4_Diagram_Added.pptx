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000" b="1">
                <a:solidFill>
                  <a:srgbClr val="239155"/>
                </a:solidFill>
                <a:latin typeface="Aptos"/>
              </a:rPr>
              <a:t>DIGITAL LOGIC DESIGN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07040" cy="10515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4200" b="1">
                <a:solidFill>
                  <a:srgbClr val="192D46"/>
                </a:solidFill>
                <a:latin typeface="Aptos"/>
              </a:rPr>
              <a:t>LOGIC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241280" cy="6858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200" b="0">
                <a:solidFill>
                  <a:srgbClr val="505F6E"/>
                </a:solidFill>
                <a:latin typeface="Aptos"/>
              </a:rPr>
              <a:t>Basic gates, universal gates, and NAND-only / NOR-only realizations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1700" b="0">
                <a:solidFill>
                  <a:srgbClr val="192D46"/>
                </a:solidFill>
                <a:latin typeface="Aptos"/>
              </a:rPr>
              <a:t>Team Leader: Sowmya Seelam — 2620030543</a:t>
            </a:r>
            <a:br/>
            <a:r>
              <a:rPr sz="1700" b="0">
                <a:solidFill>
                  <a:srgbClr val="192D46"/>
                </a:solidFill>
                <a:latin typeface="Aptos"/>
              </a:rPr>
              <a:t>Rohitha — 2620030588  |  Siddarada — 2620030572  |  Rithvik — 2620030592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9144000" cy="3200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1600" b="1">
                <a:solidFill>
                  <a:srgbClr val="1A70BE"/>
                </a:solidFill>
                <a:latin typeface="Aptos"/>
              </a:rPr>
              <a:t>AND • OR • NOT • NAND • NOR • XOR • XNOR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800" b="1">
                <a:solidFill>
                  <a:srgbClr val="1A70BE"/>
                </a:solidFill>
                <a:latin typeface="Aptos"/>
              </a:rPr>
              <a:t>1. Basic Logic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1064240" cy="32004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/>
            <a:r>
              <a:rPr sz="1000" b="0">
                <a:solidFill>
                  <a:srgbClr val="505F6E"/>
                </a:solidFill>
                <a:latin typeface="Aptos"/>
              </a:rPr>
              <a:t>2/6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389120"/>
          </a:xfrm>
          <a:prstGeom prst="roundRect">
            <a:avLst/>
          </a:prstGeom>
          <a:solidFill>
            <a:srgbClr val="EFF7FF"/>
          </a:solidFill>
          <a:ln>
            <a:solidFill>
              <a:srgbClr val="AA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500" b="1">
                <a:solidFill>
                  <a:srgbClr val="1A70BE"/>
                </a:solidFill>
                <a:latin typeface="Aptos"/>
              </a:rPr>
              <a:t>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310896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600" b="1">
                <a:solidFill>
                  <a:srgbClr val="192D46"/>
                </a:solidFill>
                <a:latin typeface="Aptos"/>
              </a:rPr>
              <a:t>Y = A ·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017520" cy="10058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800" b="0">
                <a:solidFill>
                  <a:srgbClr val="192D46"/>
                </a:solidFill>
                <a:latin typeface="Aptos"/>
              </a:rPr>
              <a:t>Output is 1 only when both inputs are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805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600" b="0">
                <a:solidFill>
                  <a:srgbClr val="505F6E"/>
                </a:solidFill>
                <a:latin typeface="Aptos"/>
              </a:rPr>
              <a:t>All conditions must be true.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474720" cy="4389120"/>
          </a:xfrm>
          <a:prstGeom prst="roundRect">
            <a:avLst/>
          </a:prstGeom>
          <a:solidFill>
            <a:srgbClr val="EFF7FF"/>
          </a:solidFill>
          <a:ln>
            <a:solidFill>
              <a:srgbClr val="AA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500" b="1">
                <a:solidFill>
                  <a:srgbClr val="1A70BE"/>
                </a:solidFill>
                <a:latin typeface="Aptos"/>
              </a:rPr>
              <a:t>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10896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600" b="1">
                <a:solidFill>
                  <a:srgbClr val="192D46"/>
                </a:solidFill>
                <a:latin typeface="Aptos"/>
              </a:rPr>
              <a:t>Y = A +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54680"/>
            <a:ext cx="3017520" cy="10058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800" b="0">
                <a:solidFill>
                  <a:srgbClr val="192D46"/>
                </a:solidFill>
                <a:latin typeface="Aptos"/>
              </a:rPr>
              <a:t>Output is 1 when at least one input is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4805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600" b="0">
                <a:solidFill>
                  <a:srgbClr val="505F6E"/>
                </a:solidFill>
                <a:latin typeface="Aptos"/>
              </a:rPr>
              <a:t>Any condition may be true.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25880"/>
            <a:ext cx="3474720" cy="4389120"/>
          </a:xfrm>
          <a:prstGeom prst="roundRect">
            <a:avLst/>
          </a:prstGeom>
          <a:solidFill>
            <a:srgbClr val="EFF7FF"/>
          </a:solidFill>
          <a:ln>
            <a:solidFill>
              <a:srgbClr val="AA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164592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500" b="1">
                <a:solidFill>
                  <a:srgbClr val="1A70BE"/>
                </a:solidFill>
                <a:latin typeface="Aptos"/>
              </a:rPr>
              <a:t>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331720"/>
            <a:ext cx="310896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600" b="1">
                <a:solidFill>
                  <a:srgbClr val="192D46"/>
                </a:solidFill>
                <a:latin typeface="Aptos"/>
              </a:rPr>
              <a:t>Y = ¬A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154680"/>
            <a:ext cx="3017520" cy="10058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800" b="0">
                <a:solidFill>
                  <a:srgbClr val="192D46"/>
                </a:solidFill>
                <a:latin typeface="Aptos"/>
              </a:rPr>
              <a:t>Reverses the input bit: 0 becomes 1, 1 becomes 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4805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600" b="0">
                <a:solidFill>
                  <a:srgbClr val="505F6E"/>
                </a:solidFill>
                <a:latin typeface="Aptos"/>
              </a:rPr>
              <a:t>Inverts a signal.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607040" cy="3200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700" b="1">
                <a:solidFill>
                  <a:srgbClr val="239155"/>
                </a:solidFill>
                <a:latin typeface="Aptos"/>
              </a:rPr>
              <a:t>A truth table shows the output for every possible input combination.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800" b="1">
                <a:solidFill>
                  <a:srgbClr val="1A70BE"/>
                </a:solidFill>
                <a:latin typeface="Aptos"/>
              </a:rPr>
              <a:t>2. Truth Table and Universal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1064240" cy="32004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/>
            <a:r>
              <a:rPr sz="1000" b="0">
                <a:solidFill>
                  <a:srgbClr val="505F6E"/>
                </a:solidFill>
                <a:latin typeface="Aptos"/>
              </a:rPr>
              <a:t>3/6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76809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1005840"/>
                <a:gridCol w="914400"/>
                <a:gridCol w="1097280"/>
                <a:gridCol w="914400"/>
                <a:gridCol w="1005840"/>
                <a:gridCol w="1280160"/>
              </a:tblGrid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AND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OR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NAND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NOR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XOR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XNOR</a:t>
                      </a:r>
                    </a:p>
                  </a:txBody>
                  <a:tcPr marL="18288" marR="18288" anchor="ctr">
                    <a:solidFill>
                      <a:srgbClr val="1A70BE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EFF7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92D4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1371600"/>
            <a:ext cx="315468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100" b="1">
                <a:solidFill>
                  <a:srgbClr val="239155"/>
                </a:solidFill>
                <a:latin typeface="Aptos"/>
              </a:rPr>
              <a:t>Why NAND and NOR?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920240"/>
            <a:ext cx="3200400" cy="33832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</a:pPr>
            <a:r>
              <a:rPr sz="1600">
                <a:solidFill>
                  <a:srgbClr val="192D46"/>
                </a:solidFill>
                <a:latin typeface="Aptos"/>
              </a:rPr>
              <a:t>•  NAND = NOT(AND); output is 0 only for A=B=1.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192D46"/>
                </a:solidFill>
                <a:latin typeface="Aptos"/>
              </a:rPr>
              <a:t>•  NOR = NOT(OR); output is 1 only for A=B=0.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192D46"/>
                </a:solidFill>
                <a:latin typeface="Aptos"/>
              </a:rPr>
              <a:t>•  Each is universal: either type alone can build all common logic 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900" b="1">
                <a:solidFill>
                  <a:srgbClr val="1A70BE"/>
                </a:solidFill>
                <a:latin typeface="Aptos"/>
              </a:rPr>
              <a:t>XOR gives 1 when inputs differ. XNOR gives 1 when inputs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800" b="1">
                <a:solidFill>
                  <a:srgbClr val="1A70BE"/>
                </a:solidFill>
                <a:latin typeface="Aptos"/>
              </a:rPr>
              <a:t>3. Combined Logisim-Style Circuit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1064240" cy="32004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/>
            <a:r>
              <a:rPr sz="1000" b="0">
                <a:solidFill>
                  <a:srgbClr val="505F6E"/>
                </a:solidFill>
                <a:latin typeface="Aptos"/>
              </a:rPr>
              <a:t>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789920" cy="16459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900" b="0">
                <a:solidFill>
                  <a:srgbClr val="505F6E"/>
                </a:solidFill>
                <a:latin typeface="Aptos"/>
              </a:rPr>
              <a:t>Reference schematic: basic gates + NAND-only + NOR-only realizations</a:t>
            </a:r>
          </a:p>
        </p:txBody>
      </p:sp>
      <p:pic>
        <p:nvPicPr>
          <p:cNvPr id="7" name="Picture 6" descr="image(20261015-12363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609" y="1078992"/>
            <a:ext cx="8026476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800" b="1">
                <a:solidFill>
                  <a:srgbClr val="1A70BE"/>
                </a:solidFill>
                <a:latin typeface="Aptos"/>
              </a:rPr>
              <a:t>4. Universal-Gate Realizations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11064240" cy="32004"/>
          </a:xfrm>
          <a:prstGeom prst="rect">
            <a:avLst/>
          </a:prstGeom>
          <a:solidFill>
            <a:srgbClr val="1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6510528"/>
            <a:ext cx="548640" cy="182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/>
            <a:r>
              <a:rPr sz="1000" b="0">
                <a:solidFill>
                  <a:srgbClr val="505F6E"/>
                </a:solidFill>
                <a:latin typeface="Aptos"/>
              </a:rP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21208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200" b="1">
                <a:solidFill>
                  <a:srgbClr val="239155"/>
                </a:solidFill>
                <a:latin typeface="Aptos"/>
              </a:rPr>
              <a:t>NAND-only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212080" cy="33832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NOT: ¬A = A NAND A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AND: A·B = (A NAND B) NAND (A NAND B)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OR: A+B = (A NAND A) NAND (B NAND B)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XOR/XNOR can also be made using NAND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21208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r>
              <a:rPr sz="2200" b="1">
                <a:solidFill>
                  <a:srgbClr val="239155"/>
                </a:solidFill>
                <a:latin typeface="Aptos"/>
              </a:rPr>
              <a:t>NOR-only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212080" cy="338328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NOT: ¬A = A NOR A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OR: A+B = (A NOR B) NOR (A NOR B)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AND: A·B = (A NOR A) NOR (B NOR B)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192D46"/>
                </a:solidFill>
                <a:latin typeface="Aptos"/>
              </a:rPr>
              <a:t>•  XOR/XNOR can also be made using NOR 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10744200" cy="777240"/>
          </a:xfrm>
          <a:prstGeom prst="roundRect">
            <a:avLst/>
          </a:prstGeom>
          <a:solidFill>
            <a:srgbClr val="EFF7FF"/>
          </a:solidFill>
          <a:ln>
            <a:solidFill>
              <a:srgbClr val="AA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1600" b="1">
                <a:solidFill>
                  <a:srgbClr val="192D46"/>
                </a:solidFill>
                <a:latin typeface="Aptos"/>
              </a:rPr>
              <a:t>Applications: processors and ALUs • memory and registers • alarms • security systems •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6400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3000" b="1">
                <a:solidFill>
                  <a:srgbClr val="1A70BE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10149840" cy="7315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800" b="1">
                <a:solidFill>
                  <a:srgbClr val="192D46"/>
                </a:solidFill>
                <a:latin typeface="Aptos"/>
              </a:rPr>
              <a:t>One idea. Many circuits.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0"/>
            <a:ext cx="9326880" cy="228600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</a:pPr>
            <a:r>
              <a:rPr sz="1900">
                <a:solidFill>
                  <a:srgbClr val="192D46"/>
                </a:solidFill>
                <a:latin typeface="Aptos"/>
              </a:rPr>
              <a:t>•  Logic gates process binary inputs (0 and 1) to produce outputs.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192D46"/>
                </a:solidFill>
                <a:latin typeface="Aptos"/>
              </a:rPr>
              <a:t>•  NAND and NOR are universal gates because either one can build the other common gates.</a:t>
            </a:r>
          </a:p>
          <a:p>
            <a:pPr>
              <a:spcAft>
                <a:spcPts val="1500"/>
              </a:spcAft>
            </a:pPr>
            <a:r>
              <a:rPr sz="1900">
                <a:solidFill>
                  <a:srgbClr val="192D46"/>
                </a:solidFill>
                <a:latin typeface="Aptos"/>
              </a:rPr>
              <a:t>•  XOR and XNOR are useful for arithmetic, parity, and comparing 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ctr"/>
            <a:r>
              <a:rPr sz="2400" b="1">
                <a:solidFill>
                  <a:srgbClr val="239155"/>
                </a:solidFill>
                <a:latin typeface="Aptos"/>
              </a:rP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